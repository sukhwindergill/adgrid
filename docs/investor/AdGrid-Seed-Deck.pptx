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029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058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087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0116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146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175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204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233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262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321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379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467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5496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525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5554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5613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0642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5671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058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087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0116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5146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0175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5204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0233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5262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5321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0350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40080" y="72898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6146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SEED ROUND · $3.2M · 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1051560"/>
            <a:ext cx="1051560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4600" b="1">
                <a:solidFill>
                  <a:srgbClr val="EDEFF3"/>
                </a:solidFill>
                <a:latin typeface="Arial Narrow"/>
              </a:rPr>
              <a:t>Every screen is a billboard.</a:t>
            </a:r>
          </a:p>
          <a:p>
            <a:pPr algn="l">
              <a:lnSpc>
                <a:spcPct val="98000"/>
              </a:lnSpc>
            </a:pPr>
            <a:r>
              <a:rPr sz="4600" b="1">
                <a:solidFill>
                  <a:srgbClr val="EDEFF3"/>
                </a:solidFill>
                <a:latin typeface="Arial Narrow"/>
              </a:rPr>
              <a:t>None of them are for sale.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3520440"/>
            <a:ext cx="8686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8D97AC"/>
                </a:solidFill>
                <a:latin typeface="Segoe UI"/>
              </a:rPr>
              <a:t>AdGrid is the self-serve marketplace that lets any business with a screen — a café, a gym, a laundromat, a lobby — sell ad space the same way Shopify let anyone sell a product. No sales calls, no IOs, no minimums.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2335" y="643737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40135" y="643737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D97AC"/>
                </a:solidFill>
                <a:latin typeface="Consolas"/>
              </a:rPr>
              <a:t>01 / 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029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058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087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0116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146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175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204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233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262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321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379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467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5496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525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5554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5613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0642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5671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058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087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0116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5146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0175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5204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0233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5262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5321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0350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THE SETUP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86868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DEFF3"/>
                </a:solidFill>
                <a:latin typeface="Arial Narrow"/>
              </a:rPr>
              <a:t>Digital out-of-home just had its consolidation moment.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1783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D97AC"/>
                </a:solidFill>
                <a:latin typeface="Segoe UI"/>
              </a:rPr>
              <a:t>Three acquisitions in the last twelve months collapsed the programmatic DOOH stack into a handful of enterprise players — and left the long tail of independent screen owners with nowhere to go.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2651760"/>
            <a:ext cx="3383280" cy="228600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2798064"/>
            <a:ext cx="3054096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Broadsign → acquires Place Exchange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3364992"/>
            <a:ext cx="3054096" cy="1536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Nov 2025. Fourth M&amp;A in seven years. Now the largest DOOH platform — 1.8M screens, 370 employees.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97680" y="2651760"/>
            <a:ext cx="3383280" cy="228600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462272" y="2798064"/>
            <a:ext cx="3054096" cy="530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T-Mobile → acquires Vistar Media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62272" y="3364992"/>
            <a:ext cx="3054096" cy="1536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The leading end-to-end DOOH SSP/DSP folded into a telco's ad business.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55280" y="2651760"/>
            <a:ext cx="3383280" cy="228600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19872" y="2798064"/>
            <a:ext cx="305409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Perion → acquires Hivestack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19872" y="3108960"/>
            <a:ext cx="3054096" cy="17922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Another independent programmatic DOOH platform absorbed into a larger ad-tech holding co.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2120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EDEFF3"/>
                </a:solidFill>
                <a:latin typeface="Segoe UI"/>
              </a:rPr>
              <a:t>Every remaining platform sells to media buyers and national networks. None of them onboard a laundromat with one screen and a Wi-Fi router.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" y="576072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Source: invidis, Nov 2025 — Broadsign/Place Exchange, T-Mobile/Vistar Media, Perion/Hivestack deal coverage.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82335" y="643737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140135" y="643737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D97AC"/>
                </a:solidFill>
                <a:latin typeface="Consolas"/>
              </a:rPr>
              <a:t>02 / 14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029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058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087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0116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146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175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204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233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262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321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379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467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5496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525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5554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5613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0642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5671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058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087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0116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5146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0175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5204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0233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5262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5321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0350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THE MARKET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86868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DEFF3"/>
                </a:solidFill>
                <a:latin typeface="Arial Narrow"/>
              </a:rPr>
              <a:t>A $22B market, growing 12% a year — and the programmatic slice is growing faster still.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219456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B238"/>
                </a:solidFill>
                <a:latin typeface="Consolas"/>
              </a:rPr>
              <a:t>$22.5B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276148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C70"/>
                </a:solidFill>
                <a:latin typeface="Consolas"/>
              </a:rPr>
              <a:t>GLOBAL DOOH AD SPEND,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219456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B238"/>
                </a:solidFill>
                <a:latin typeface="Consolas"/>
              </a:rPr>
              <a:t>$56.1B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6148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C70"/>
                </a:solidFill>
                <a:latin typeface="Consolas"/>
              </a:rPr>
              <a:t>PROJECTED DOOH SPEND, 2034 (12.1% CAGR)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0" y="2194560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38E1C6"/>
                </a:solidFill>
                <a:latin typeface="Consolas"/>
              </a:rPr>
              <a:t>17.0%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2761488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C70"/>
                </a:solidFill>
                <a:latin typeface="Consolas"/>
              </a:rPr>
              <a:t>CAGR OF THE PROGRAMMATIC DOOH PLATFORM LAYER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3566160"/>
            <a:ext cx="9875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8D97AC"/>
                </a:solidFill>
                <a:latin typeface="Segoe UI"/>
              </a:rPr>
              <a:t>Programmatic DOOH platform spend alone is projected to reach $12.9B by 2030. Almost none of that inventory comes from independently owned screens — because no self-serve rail exists to bring them on.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" y="4617720"/>
            <a:ext cx="10881360" cy="105156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4672" y="4764024"/>
            <a:ext cx="105521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The gap this creates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4672" y="5074920"/>
            <a:ext cx="10552176" cy="557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Programmatic platforms are built for national campaigns bought by media agencies. The tooling, minimums, and sales motion assume a buyer with a DSP seat and a screen network with a sales team — which excludes the millions of independently owned screens that have neither.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Sources: Fortune Business Insights; Research and Markets, Programmatic DOOH Platform Market Report, 2026.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82335" y="643737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40135" y="643737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D97AC"/>
                </a:solidFill>
                <a:latin typeface="Consolas"/>
              </a:rPr>
              <a:t>03 /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029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058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087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0116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146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175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204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233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262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321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379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467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5496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525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5554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5613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0642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5671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058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087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0116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5146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0175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5204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0233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5262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5321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0350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THE SOLUTION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868680"/>
            <a:ext cx="105156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DEFF3"/>
                </a:solidFill>
                <a:latin typeface="Arial Narrow"/>
              </a:rPr>
              <a:t>A two-sided, self-serve marketplace — not another enterprise SSP.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2103120"/>
            <a:ext cx="5120640" cy="265176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2249424"/>
            <a:ext cx="47914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For operators (screen owners)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2560320"/>
            <a:ext cx="4791456" cy="21579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List a screen in minutes. AdGrid handles the player software, ad approval queue, and payout — the operator sets a floor price and gets paid.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Built on the same product already live in the pilot network: onboarding wizard, approval queue, revenue dashboard.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35040" y="2103120"/>
            <a:ext cx="5120640" cy="265176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99632" y="2249424"/>
            <a:ext cx="47914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For advertisers (any local business)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99632" y="2560320"/>
            <a:ext cx="4791456" cy="21579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A guided campaign wizard — pick an area, pick screens, set a budget, pay by card. No media buyer, no minimum spend, live in a day.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Signup through pay-wall already runs end-to-end in production today.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498348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8D97AC"/>
                </a:solidFill>
                <a:latin typeface="Segoe UI"/>
              </a:rPr>
              <a:t>AdGrid takes a transaction fee on every campaign. No enterprise sales team, no IOs — the product is the sales motion.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82335" y="643737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40135" y="643737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D97AC"/>
                </a:solidFill>
                <a:latin typeface="Consolas"/>
              </a:rPr>
              <a:t>04 / 14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029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058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087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0116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146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175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204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233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262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321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379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467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5496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525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5554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5613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0642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5671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058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087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0116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5146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0175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5204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0233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5262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5321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0350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HOW IT WORKS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DEFF3"/>
                </a:solidFill>
                <a:latin typeface="Arial Narrow"/>
              </a:rPr>
              <a:t>Money and measurement, closed loop.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1965960"/>
            <a:ext cx="2331720" cy="123444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2112264"/>
            <a:ext cx="20025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Advertiser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2423160"/>
            <a:ext cx="2002536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builds campaign, pays by card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71800" y="2400300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525C70"/>
                </a:solidFill>
                <a:latin typeface="Consolas"/>
              </a:rPr>
              <a:t>→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74720" y="1965960"/>
            <a:ext cx="2331720" cy="123444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39312" y="2112264"/>
            <a:ext cx="20025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AdGrid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39312" y="2423160"/>
            <a:ext cx="2002536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routes creative, holds funds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06440" y="2400300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525C70"/>
                </a:solidFill>
                <a:latin typeface="Consolas"/>
              </a:rPr>
              <a:t>→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09360" y="1965960"/>
            <a:ext cx="2331720" cy="123444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73952" y="2112264"/>
            <a:ext cx="20025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Screen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73952" y="2423160"/>
            <a:ext cx="2002536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plays creative, shows QR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41080" y="2400300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525C70"/>
                </a:solidFill>
                <a:latin typeface="Consolas"/>
              </a:rPr>
              <a:t>→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44000" y="1965960"/>
            <a:ext cx="2331720" cy="123444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308592" y="2112264"/>
            <a:ext cx="20025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Consumer scan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08592" y="2423160"/>
            <a:ext cx="2002536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tracked, then redirected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40080" y="3520440"/>
            <a:ext cx="2331720" cy="123444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4672" y="3666744"/>
            <a:ext cx="20025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Scan data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4672" y="3977640"/>
            <a:ext cx="2002536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feeds advertiser dashboard + pixel forwarding (Meta / Google Conversions API)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971800" y="3954780"/>
            <a:ext cx="502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525C70"/>
                </a:solidFill>
                <a:latin typeface="Consolas"/>
              </a:rPr>
              <a:t>→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474720" y="3520440"/>
            <a:ext cx="2331720" cy="123444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39312" y="3666744"/>
            <a:ext cx="20025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Payout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39312" y="3977640"/>
            <a:ext cx="2002536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AdGrid keeps take rate, transfers the rest to the operator via Stripe Connect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" y="5074920"/>
            <a:ext cx="9875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8D97AC"/>
                </a:solidFill>
                <a:latin typeface="Segoe UI"/>
              </a:rPr>
              <a:t>The advertiser only re-ups if the screen produced measurable scans. That closed loop — pay, play, prove, pay-out — is the whole product.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882335" y="643737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40135" y="643737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D97AC"/>
                </a:solidFill>
                <a:latin typeface="Consolas"/>
              </a:rPr>
              <a:t>05 / 14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029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058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087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0116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146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175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204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233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262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321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379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467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5496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525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5554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5613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0642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5671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058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087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0116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5146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0175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5204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0233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5262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5321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0350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WHERE WE ACTUALLY ARE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86868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DEFF3"/>
                </a:solidFill>
                <a:latin typeface="Arial Narrow"/>
              </a:rPr>
              <a:t>Built, piloted, and verified — with a named punch list before public launch.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16916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8D97AC"/>
                </a:solidFill>
                <a:latin typeface="Segoe UI"/>
              </a:rPr>
              <a:t>We ran a live verification pass against production data this month. Here's the real state, not the pitch version.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DEFF3"/>
                </a:solidFill>
                <a:latin typeface="Consolas"/>
              </a:rPr>
              <a:t>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2852928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C70"/>
                </a:solidFill>
                <a:latin typeface="Consolas"/>
              </a:rPr>
              <a:t>SCREENS ONBOARDED (PILOT NETWORK)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DEFF3"/>
                </a:solidFill>
                <a:latin typeface="Consolas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0" y="2852928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C70"/>
                </a:solidFill>
                <a:latin typeface="Consolas"/>
              </a:rPr>
              <a:t>SCREENS LIVE IN PRODUCTION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2286000"/>
            <a:ext cx="2743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DEFF3"/>
                </a:solidFill>
                <a:latin typeface="Consolas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75120" y="2852928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25C70"/>
                </a:solidFill>
                <a:latin typeface="Consolas"/>
              </a:rPr>
              <a:t>OPERATOR PARTNERS TRANSACTING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" y="3429000"/>
            <a:ext cx="5120640" cy="201168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804672" y="3575304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 w="9525">
            <a:solidFill>
              <a:srgbClr val="38E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38E1C6"/>
                </a:solidFill>
                <a:latin typeface="Consolas"/>
              </a:rPr>
              <a:t>PROVEN LIVE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4672" y="3922776"/>
            <a:ext cx="47914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Proven live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2" y="4233672"/>
            <a:ext cx="4791456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Advertiser signup → 5-step campaign wizard → review → pay-wall runs end-to-end on real infrastructure. Screen onboarding, approval queue, and role-based dashboards all work.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0" y="3429000"/>
            <a:ext cx="5120640" cy="201168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199632" y="3575304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 w="9525">
            <a:solidFill>
              <a:srgbClr val="FFB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FB238"/>
                </a:solidFill>
                <a:latin typeface="Consolas"/>
              </a:rPr>
              <a:t>FUNDED ROADMAP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99632" y="3922776"/>
            <a:ext cx="47914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Funded roadmap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199632" y="4233672"/>
            <a:ext cx="4791456" cy="11704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Scan tracking, operator payouts, and tenant data isolation are built but not yet wired end-to-end in production. This is the first 90 days of engineering the round funds.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82335" y="643737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40135" y="643737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D97AC"/>
                </a:solidFill>
                <a:latin typeface="Consolas"/>
              </a:rPr>
              <a:t>06 / 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029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058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087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0116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146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175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204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233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262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321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379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467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5496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525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5554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5613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0642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5671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058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087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0116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5146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0175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5204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0233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5262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5321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0350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90-DAY ROADMAP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8686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DEFF3"/>
                </a:solidFill>
                <a:latin typeface="Arial Narrow"/>
              </a:rPr>
              <a:t>Three fixes stand between pilot and self-serve public launch.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1783080"/>
            <a:ext cx="10881360" cy="1051560"/>
          </a:xfrm>
          <a:prstGeom prst="roundRect">
            <a:avLst>
              <a:gd name="adj" fmla="val 60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1911096"/>
            <a:ext cx="7863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EFF3"/>
                </a:solidFill>
                <a:latin typeface="Segoe UI"/>
              </a:rPr>
              <a:t>Activate scan-based measurement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2221992"/>
            <a:ext cx="7863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QR redirect + pixel-forwarding service is built and tested in isolation. Repoint the on-screen QR through it so every scan is counted — this is the product's headline metric.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214884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 w="9525">
            <a:solidFill>
              <a:srgbClr val="FFB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B238"/>
                </a:solidFill>
                <a:latin typeface="Consolas"/>
              </a:rPr>
              <a:t>WEEKS 1–3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0080" y="3017520"/>
            <a:ext cx="10881360" cy="1051560"/>
          </a:xfrm>
          <a:prstGeom prst="roundRect">
            <a:avLst>
              <a:gd name="adj" fmla="val 60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3145536"/>
            <a:ext cx="7863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EFF3"/>
                </a:solidFill>
                <a:latin typeface="Segoe UI"/>
              </a:rPr>
              <a:t>Turn on operator payouts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3456432"/>
            <a:ext cx="7863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Stripe Connect integration exists in the charge pipeline. Make onboarding a required step so operator transfers actually execute, not just advertiser charges.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61120" y="338328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 w="9525">
            <a:solidFill>
              <a:srgbClr val="FFB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B238"/>
                </a:solidFill>
                <a:latin typeface="Consolas"/>
              </a:rPr>
              <a:t>WEEKS 2–5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4251960"/>
            <a:ext cx="10881360" cy="1051560"/>
          </a:xfrm>
          <a:prstGeom prst="roundRect">
            <a:avLst>
              <a:gd name="adj" fmla="val 60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2960" y="4379976"/>
            <a:ext cx="7863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DEFF3"/>
                </a:solidFill>
                <a:latin typeface="Segoe UI"/>
              </a:rPr>
              <a:t>Harden tenant data isolation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4690872"/>
            <a:ext cx="7863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Scope operator revenue and internal fields out of advertiser-facing data access. Security review before any self-serve public signup.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961120" y="461772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 w="9525">
            <a:solidFill>
              <a:srgbClr val="FFB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B238"/>
                </a:solidFill>
                <a:latin typeface="Consolas"/>
              </a:rPr>
              <a:t>WEEKS 1–2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321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These are scoped, known, and estimated — not open-ended risk. This is exactly the work a funded engineering team clears before opening the doors.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82335" y="643737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40135" y="643737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D97AC"/>
                </a:solidFill>
                <a:latin typeface="Consolas"/>
              </a:rPr>
              <a:t>07 / 14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029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058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087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0116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146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175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204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233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262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321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379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467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5496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525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5554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5613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0642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5671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058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087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0116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5146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0175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5204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0233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5262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5321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0350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GO-TO-MARKET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DEFF3"/>
                </a:solidFill>
                <a:latin typeface="Arial Narrow"/>
              </a:rPr>
              <a:t>Start where nobody else will sell direct.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1965960"/>
            <a:ext cx="2560320" cy="237744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2112264"/>
            <a:ext cx="22311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Cafés &amp; laundromats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2423160"/>
            <a:ext cx="2231136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High dwell time, zero sales-team coverage today.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29000" y="1965960"/>
            <a:ext cx="2560320" cy="237744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93592" y="2112264"/>
            <a:ext cx="22311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Gyms &amp; studios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3592" y="2423160"/>
            <a:ext cx="2231136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Captive local audience, existing screen hardware.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1965960"/>
            <a:ext cx="2560320" cy="237744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82512" y="2112264"/>
            <a:ext cx="22311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Elevator &amp; lobby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82512" y="2423160"/>
            <a:ext cx="2231136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Property managers, one screen per building, easy repeat.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006840" y="1965960"/>
            <a:ext cx="2560320" cy="237744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71432" y="2112264"/>
            <a:ext cx="223113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Local retail chains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71432" y="2423160"/>
            <a:ext cx="2231136" cy="1883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Multi-location owners = multi-screen operators in one signup.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663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8D97AC"/>
                </a:solidFill>
                <a:latin typeface="Segoe UI"/>
              </a:rPr>
              <a:t>Every enterprise DOOH platform requires a media-buyer relationship to transact. AdGrid requires a credit card. That's the wedge into the segment the consolidation just abandoned.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82335" y="643737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40135" y="643737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D97AC"/>
                </a:solidFill>
                <a:latin typeface="Consolas"/>
              </a:rPr>
              <a:t>08 / 14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029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058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087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0116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146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175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204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233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262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321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379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467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5496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525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5554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5613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0642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5671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058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087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0116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5146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0175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5204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0233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5262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5321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0350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COMPETITIVE LANDSCAPE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EDEFF3"/>
                </a:solidFill>
                <a:latin typeface="Arial Narrow"/>
              </a:rPr>
              <a:t>Nobody else is self-serve on both sides.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1984247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25C70"/>
                </a:solidFill>
                <a:latin typeface="Consolas"/>
              </a:rPr>
              <a:t>PLATFORM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360" y="1984247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25C70"/>
                </a:solidFill>
                <a:latin typeface="Consolas"/>
              </a:rPr>
              <a:t>BUYER ONBOARDING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1984247"/>
            <a:ext cx="2651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25C70"/>
                </a:solidFill>
                <a:latin typeface="Consolas"/>
              </a:rPr>
              <a:t>SCREEN OWNER ONBOARDING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60" y="1984247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525C70"/>
                </a:solidFill>
                <a:latin typeface="Consolas"/>
              </a:rPr>
              <a:t>MINIMUM SPEND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40080" y="2331719"/>
            <a:ext cx="10698480" cy="0"/>
          </a:xfrm>
          <a:prstGeom prst="line">
            <a:avLst/>
          </a:prstGeom>
          <a:ln w="6350">
            <a:solidFill>
              <a:srgbClr val="262D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31520" y="2441447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Broadsign + Place Exchange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23360" y="2441447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Media buyer / DSP seat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75120" y="2441447"/>
            <a:ext cx="2651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Sales-assisted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2441447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Enterprise IOs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40080" y="2788919"/>
            <a:ext cx="10698480" cy="0"/>
          </a:xfrm>
          <a:prstGeom prst="line">
            <a:avLst/>
          </a:prstGeom>
          <a:ln w="6350">
            <a:solidFill>
              <a:srgbClr val="262D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31520" y="2898647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Vistar Media (T-Mobile)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360" y="2898647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Media buyer / DSP seat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0" y="2898647"/>
            <a:ext cx="2651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Sales-assisted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09760" y="2898647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Enterprise IOs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640080" y="3246119"/>
            <a:ext cx="10698480" cy="0"/>
          </a:xfrm>
          <a:prstGeom prst="line">
            <a:avLst/>
          </a:prstGeom>
          <a:ln w="6350">
            <a:solidFill>
              <a:srgbClr val="262D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31520" y="3355847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Hivestack (Perion)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0" y="3355847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Media buyer / DSP seat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75120" y="3355847"/>
            <a:ext cx="2651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Sales-assisted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09760" y="3355847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D97AC"/>
                </a:solidFill>
                <a:latin typeface="Segoe UI"/>
              </a:rPr>
              <a:t>Enterprise IOs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40080" y="3703319"/>
            <a:ext cx="10698480" cy="0"/>
          </a:xfrm>
          <a:prstGeom prst="line">
            <a:avLst/>
          </a:prstGeom>
          <a:ln w="6350">
            <a:solidFill>
              <a:srgbClr val="262D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640080" y="3703319"/>
            <a:ext cx="10698480" cy="457200"/>
          </a:xfrm>
          <a:prstGeom prst="rect">
            <a:avLst/>
          </a:prstGeom>
          <a:solidFill>
            <a:srgbClr val="13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1520" y="3813047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8E1C6"/>
                </a:solidFill>
                <a:latin typeface="Segoe UI"/>
              </a:rPr>
              <a:t>AdGrid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23360" y="3813047"/>
            <a:ext cx="2468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DEFF3"/>
                </a:solidFill>
                <a:latin typeface="Segoe UI"/>
              </a:rPr>
              <a:t>Self-serve, card on file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75120" y="3813047"/>
            <a:ext cx="2651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DEFF3"/>
                </a:solidFill>
                <a:latin typeface="Segoe UI"/>
              </a:rPr>
              <a:t>Self-serve, screen + Wi-Fi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09760" y="3813047"/>
            <a:ext cx="1737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DEFF3"/>
                </a:solidFill>
                <a:latin typeface="Segoe UI"/>
              </a:rPr>
              <a:t>None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40080" y="4160519"/>
            <a:ext cx="10698480" cy="0"/>
          </a:xfrm>
          <a:prstGeom prst="line">
            <a:avLst/>
          </a:prstGeom>
          <a:ln w="6350">
            <a:solidFill>
              <a:srgbClr val="262D3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640080" y="4434839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D97AC"/>
                </a:solidFill>
                <a:latin typeface="Segoe UI"/>
              </a:rPr>
              <a:t>This isn't a claim we're better at their game. It's that their game requires a sales team on both sides — and the market they just consolidated around doesn't include the screens that don't have one.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40080" y="5074919"/>
            <a:ext cx="10881360" cy="73152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2" y="5221223"/>
            <a:ext cx="105521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Why this doesn't stay open long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4672" y="5532119"/>
            <a:ext cx="105521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Consolidation makes the wedge bigger, not smaller — three fewer independent platforms to compete with for the self-serve segment.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882335" y="643737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140135" y="643737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D97AC"/>
                </a:solidFill>
                <a:latin typeface="Consolas"/>
              </a:rPr>
              <a:t>09 / 14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029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058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087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0116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146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175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204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233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262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321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379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467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5496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525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5554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5613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0642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5671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058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087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0116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5146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0175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5204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0233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5262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5321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0350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BUSINESS MODEL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DEFF3"/>
                </a:solidFill>
                <a:latin typeface="Arial Narrow"/>
              </a:rPr>
              <a:t>Take rate on every transaction. No seat fees, no IOs.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1920240"/>
            <a:ext cx="5120640" cy="283464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2066544"/>
            <a:ext cx="47914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Revenue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2377440"/>
            <a:ext cx="4791456" cy="2340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A platform fee on every advertiser campaign, deducted before the operator payout. Scales directly with campaign volume — no separate SaaS tier to sell.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306324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D97AC"/>
                </a:solidFill>
                <a:latin typeface="Segoe UI"/>
              </a:rPr>
              <a:t>Advertiser pays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090672" y="3101340"/>
            <a:ext cx="1865376" cy="14630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090672" y="3101340"/>
            <a:ext cx="1865376" cy="146304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56048" y="30378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DEFF3"/>
                </a:solidFill>
                <a:latin typeface="Consolas"/>
              </a:rPr>
              <a:t>100%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" y="342900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D97AC"/>
                </a:solidFill>
                <a:latin typeface="Segoe UI"/>
              </a:rPr>
              <a:t>Operator payout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090672" y="3467100"/>
            <a:ext cx="1865376" cy="14630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090672" y="3467100"/>
            <a:ext cx="1492300" cy="146304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956048" y="34036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DEFF3"/>
                </a:solidFill>
                <a:latin typeface="Consolas"/>
              </a:rPr>
              <a:t>~80%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2" y="379476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D97AC"/>
                </a:solidFill>
                <a:latin typeface="Segoe UI"/>
              </a:rPr>
              <a:t>AdGrid take rate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090672" y="3832860"/>
            <a:ext cx="1865376" cy="14630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090672" y="3832860"/>
            <a:ext cx="373075" cy="146304"/>
          </a:xfrm>
          <a:prstGeom prst="roundRect">
            <a:avLst>
              <a:gd name="adj" fmla="val 50000"/>
            </a:avLst>
          </a:prstGeom>
          <a:solidFill>
            <a:srgbClr val="FFB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956048" y="376936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DEFF3"/>
                </a:solidFill>
                <a:latin typeface="Consolas"/>
              </a:rPr>
              <a:t>~20%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035040" y="1920240"/>
            <a:ext cx="5120640" cy="283464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99632" y="2066544"/>
            <a:ext cx="47914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Why self-serve compounds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99632" y="2377440"/>
            <a:ext cx="4791456" cy="2340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Every new screen is inventory with zero incremental sales cost. Every new advertiser is demand with zero incremental sales cost. Both sides onboard themselves — the marketplace gets denser, not more expensive to run.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82335" y="643737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140135" y="643737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D97AC"/>
                </a:solidFill>
                <a:latin typeface="Consolas"/>
              </a:rPr>
              <a:t>10 / 14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029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058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087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0116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146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175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204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233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262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321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379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467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5496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525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5554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5613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0642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5671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058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087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0116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5146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0175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5204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0233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5262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5321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0350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THE ASK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868680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>
                <a:solidFill>
                  <a:srgbClr val="EDEFF3"/>
                </a:solidFill>
                <a:latin typeface="Arial Narrow"/>
              </a:rPr>
              <a:t>$3.2M seed to fund the team and the hardware kit that gets screens live faster.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1965960"/>
            <a:ext cx="5120640" cy="301752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2112264"/>
            <a:ext cx="47914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Use of funds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2423160"/>
            <a:ext cx="4791456" cy="2523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242316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D97AC"/>
                </a:solidFill>
                <a:latin typeface="Segoe UI"/>
              </a:rPr>
              <a:t>Engineering &amp; product team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090672" y="2461260"/>
            <a:ext cx="1865376" cy="14630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090672" y="2461260"/>
            <a:ext cx="839419" cy="146304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56048" y="239776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DEFF3"/>
                </a:solidFill>
                <a:latin typeface="Consolas"/>
              </a:rPr>
              <a:t>45%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" y="278892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D97AC"/>
                </a:solidFill>
                <a:latin typeface="Segoe UI"/>
              </a:rPr>
              <a:t>Operator hardware kits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090672" y="2827020"/>
            <a:ext cx="1865376" cy="14630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090672" y="2827020"/>
            <a:ext cx="466344" cy="146304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956048" y="276352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DEFF3"/>
                </a:solidFill>
                <a:latin typeface="Consolas"/>
              </a:rPr>
              <a:t>25%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4672" y="315468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D97AC"/>
                </a:solidFill>
                <a:latin typeface="Segoe UI"/>
              </a:rPr>
              <a:t>Go-to-market &amp; sales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090672" y="3192780"/>
            <a:ext cx="1865376" cy="14630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3090672" y="3192780"/>
            <a:ext cx="373075" cy="146304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956048" y="312928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DEFF3"/>
                </a:solidFill>
                <a:latin typeface="Consolas"/>
              </a:rPr>
              <a:t>20%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4672" y="3520440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D97AC"/>
                </a:solidFill>
                <a:latin typeface="Segoe UI"/>
              </a:rPr>
              <a:t>Ops &amp; runway buffer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090672" y="3558540"/>
            <a:ext cx="1865376" cy="14630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3090672" y="3558540"/>
            <a:ext cx="186537" cy="146304"/>
          </a:xfrm>
          <a:prstGeom prst="roundRect">
            <a:avLst>
              <a:gd name="adj" fmla="val 50000"/>
            </a:avLst>
          </a:prstGeom>
          <a:solidFill>
            <a:srgbClr val="1F7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56048" y="349504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EDEFF3"/>
                </a:solidFill>
                <a:latin typeface="Consolas"/>
              </a:rPr>
              <a:t>10%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035040" y="1965960"/>
            <a:ext cx="5120640" cy="301752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99632" y="2112264"/>
            <a:ext cx="47914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The hardware kit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99632" y="2423160"/>
            <a:ext cx="4791456" cy="2523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Not custom displays — a standardized player box + mount that pairs with commodity screens an operator already owns. It turns “sign up” into “screen is live” without a truck roll or a technician. Removes the single biggest friction point in operator onboarding.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82335" y="643737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140135" y="643737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D97AC"/>
                </a:solidFill>
                <a:latin typeface="Consolas"/>
              </a:rPr>
              <a:t>11 / 14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029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058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087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0116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146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175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204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233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262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321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379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467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5496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525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5554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5613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0642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5671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058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087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0116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5146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0175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5204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0233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5262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5321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0350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TEAM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DEFF3"/>
                </a:solidFill>
                <a:latin typeface="Arial Narrow"/>
              </a:rPr>
              <a:t>A founder-built platform, ready for a founding team.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169164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D97AC"/>
                </a:solidFill>
                <a:latin typeface="Segoe UI"/>
              </a:rPr>
              <a:t>AdGrid is built and operated by a solo founder with contractor support today — the full advertiser and operator product, payments pipeline, and mobile app already shipped. This round funds the first full-time hires.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2606040"/>
            <a:ext cx="3520440" cy="219456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2752344"/>
            <a:ext cx="31912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Founding engineer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3063240"/>
            <a:ext cx="3191256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Owns the 90-day roadmap: measurement, payouts, security hardening.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43400" y="2606040"/>
            <a:ext cx="3520440" cy="219456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07992" y="2752344"/>
            <a:ext cx="31912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Operator success / GTM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07992" y="3063240"/>
            <a:ext cx="3191256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Runs the hardware kit rollout and the first 100 operator signups by hand.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46720" y="2606040"/>
            <a:ext cx="3520440" cy="219456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11312" y="2752344"/>
            <a:ext cx="31912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Founder (existing)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11312" y="3063240"/>
            <a:ext cx="3191256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Product, fundraising, and the first advertiser relationships.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074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D97AC"/>
                </a:solidFill>
                <a:latin typeface="Segoe UI"/>
              </a:rPr>
              <a:t>Hiring for the founding engineer and operator success roles begins within 30 days of close.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82335" y="643737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140135" y="643737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D97AC"/>
                </a:solidFill>
                <a:latin typeface="Consolas"/>
              </a:rPr>
              <a:t>12 /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029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058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087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0116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146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175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204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233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262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321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379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467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5496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525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5554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5613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0642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5671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058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087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0116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5146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0175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5204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0233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5262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5321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0350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40080" y="5918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477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WHAT THIS ROUND BUYS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DEFF3"/>
                </a:solidFill>
                <a:latin typeface="Arial Narrow"/>
              </a:rPr>
              <a:t>18 months to a proven, self-serve, two-sided marketplace.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2103120"/>
            <a:ext cx="3520440" cy="173736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04672" y="2249424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 w="9525">
            <a:solidFill>
              <a:srgbClr val="FFB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FB238"/>
                </a:solidFill>
                <a:latin typeface="Consolas"/>
              </a:rPr>
              <a:t>0–3 MO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2596896"/>
            <a:ext cx="31912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Close the loop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2907792"/>
            <a:ext cx="3191256" cy="896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Measurement, payouts, and tenant security live in production. Public self-serve signup opens.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60520" y="2788920"/>
            <a:ext cx="182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525C70"/>
                </a:solidFill>
                <a:latin typeface="Consolas"/>
              </a:rPr>
              <a:t>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43400" y="2103120"/>
            <a:ext cx="3520440" cy="173736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507992" y="2249424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 w="9525">
            <a:solidFill>
              <a:srgbClr val="FFB2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FFB238"/>
                </a:solidFill>
                <a:latin typeface="Consolas"/>
              </a:rPr>
              <a:t>3–9 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07992" y="2596896"/>
            <a:ext cx="31912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Prove the wedge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07992" y="2907792"/>
            <a:ext cx="3191256" cy="896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Hardware kit ships to first 100 operators across 3 GTM verticals. First recurring advertiser cohort.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63840" y="2788920"/>
            <a:ext cx="182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525C70"/>
                </a:solidFill>
                <a:latin typeface="Consolas"/>
              </a:rPr>
              <a:t>→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6720" y="2103120"/>
            <a:ext cx="3520440" cy="1737360"/>
          </a:xfrm>
          <a:prstGeom prst="roundRect">
            <a:avLst>
              <a:gd name="adj" fmla="val 4500"/>
            </a:avLst>
          </a:prstGeom>
          <a:solidFill>
            <a:srgbClr val="131720"/>
          </a:solidFill>
          <a:ln w="9525">
            <a:solidFill>
              <a:srgbClr val="262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211312" y="2249424"/>
            <a:ext cx="1234440" cy="237744"/>
          </a:xfrm>
          <a:prstGeom prst="roundRect">
            <a:avLst>
              <a:gd name="adj" fmla="val 50000"/>
            </a:avLst>
          </a:prstGeom>
          <a:solidFill>
            <a:srgbClr val="131720"/>
          </a:solidFill>
          <a:ln w="9525">
            <a:solidFill>
              <a:srgbClr val="38E1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00" b="1">
                <a:solidFill>
                  <a:srgbClr val="38E1C6"/>
                </a:solidFill>
                <a:latin typeface="Consolas"/>
              </a:rPr>
              <a:t>9–18 MO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11312" y="2596896"/>
            <a:ext cx="31912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EFF3"/>
                </a:solidFill>
                <a:latin typeface="Segoe UI"/>
              </a:rPr>
              <a:t>Scale the network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11312" y="2907792"/>
            <a:ext cx="3191256" cy="896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D97AC"/>
                </a:solidFill>
                <a:latin typeface="Segoe UI"/>
              </a:rPr>
              <a:t>Revenue run-rate and screen density sufficient to raise a Series A on real usage, not pilot data.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416052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8D97AC"/>
                </a:solidFill>
                <a:latin typeface="Segoe UI"/>
              </a:rPr>
              <a:t>Each stage is gated on the one before it — the roadmap only advances once measurement, payouts, and security are provably live, not just built.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ADGRID, INC.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82335" y="643737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40135" y="643737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D97AC"/>
                </a:solidFill>
                <a:latin typeface="Consolas"/>
              </a:rPr>
              <a:t>13 / 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E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5029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10058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5087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0116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5146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0175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204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0233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5262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0292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5321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350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379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5438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467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5496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525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55548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40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56132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106424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567160" y="0"/>
            <a:ext cx="0" cy="685800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0" y="5029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0" y="10058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0" y="15087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0" y="20116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0" y="25146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0" y="30175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0" y="35204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0" y="402336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0" y="452628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0" y="502920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0" y="553212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0" y="6035040"/>
            <a:ext cx="12191695" cy="0"/>
          </a:xfrm>
          <a:prstGeom prst="line">
            <a:avLst/>
          </a:prstGeom>
          <a:ln w="6350">
            <a:solidFill>
              <a:srgbClr val="1317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40080" y="820420"/>
            <a:ext cx="201168" cy="0"/>
          </a:xfrm>
          <a:prstGeom prst="line">
            <a:avLst/>
          </a:prstGeom>
          <a:ln w="15240">
            <a:solidFill>
              <a:srgbClr val="38E1C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4400" y="7061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38E1C6"/>
                </a:solidFill>
                <a:latin typeface="Consolas"/>
              </a:rPr>
              <a:t>THE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1143000"/>
            <a:ext cx="106984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EDEFF3"/>
                </a:solidFill>
                <a:latin typeface="Arial Narrow"/>
              </a:rPr>
              <a:t>The DOOH giants just consolidated toward each other.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2606040"/>
            <a:ext cx="106984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38E1C6"/>
                </a:solidFill>
                <a:latin typeface="Arial Narrow"/>
              </a:rPr>
              <a:t>We're building for everyone they left out.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3749039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8D97AC"/>
                </a:solidFill>
                <a:latin typeface="Segoe UI"/>
              </a:rPr>
              <a:t>AdGrid · Seed round · $3.2M · gillsukhwinder9000@gmail.com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437376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THANK YOU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2335" y="643737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25C70"/>
                </a:solidFill>
                <a:latin typeface="Consolas"/>
              </a:rPr>
              <a:t>CONFIDENTIAL — FOR INVESTOR REVIEW ONLY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40135" y="6437376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8D97AC"/>
                </a:solidFill>
                <a:latin typeface="Consolas"/>
              </a:rPr>
              <a:t>14 / 14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839712"/>
            <a:ext cx="12191695" cy="18288"/>
          </a:xfrm>
          <a:prstGeom prst="rect">
            <a:avLst/>
          </a:prstGeom>
          <a:solidFill>
            <a:srgbClr val="26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